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8100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com impacto: a velocidade da informação pode literalmente salvar vidas.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 err="1"/>
              <a:t>velocidade</a:t>
            </a:r>
            <a:r>
              <a:rPr lang="en-US" dirty="0"/>
              <a:t> que a </a:t>
            </a:r>
            <a:r>
              <a:rPr lang="en-US" dirty="0" err="1"/>
              <a:t>informação</a:t>
            </a:r>
            <a:r>
              <a:rPr lang="en-US" dirty="0"/>
              <a:t> </a:t>
            </a:r>
            <a:r>
              <a:rPr lang="en-US" dirty="0" err="1"/>
              <a:t>chega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mudar as </a:t>
            </a:r>
            <a:r>
              <a:rPr lang="en-US" dirty="0" err="1"/>
              <a:t>consequencia</a:t>
            </a:r>
            <a:r>
              <a:rPr lang="en-US" dirty="0"/>
              <a:t> de </a:t>
            </a:r>
            <a:r>
              <a:rPr lang="en-US" dirty="0" err="1"/>
              <a:t>eventos</a:t>
            </a:r>
            <a:r>
              <a:rPr lang="en-US" dirty="0"/>
              <a:t> que </a:t>
            </a:r>
            <a:r>
              <a:rPr lang="en-US" dirty="0" err="1"/>
              <a:t>ocorrem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nossa</a:t>
            </a:r>
            <a:r>
              <a:rPr lang="en-US" dirty="0"/>
              <a:t> </a:t>
            </a:r>
            <a:r>
              <a:rPr lang="en-US" dirty="0" err="1"/>
              <a:t>vida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aqui. Deixe a pergunta no ar por 2 segundos antes de responder.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app </a:t>
            </a:r>
            <a:r>
              <a:rPr lang="en-US" dirty="0" err="1"/>
              <a:t>possibilita</a:t>
            </a:r>
            <a:r>
              <a:rPr lang="en-US" dirty="0"/>
              <a:t> </a:t>
            </a:r>
            <a:r>
              <a:rPr lang="en-US" dirty="0" err="1"/>
              <a:t>conectar</a:t>
            </a:r>
            <a:r>
              <a:rPr lang="en-US" dirty="0"/>
              <a:t> </a:t>
            </a:r>
            <a:r>
              <a:rPr lang="en-US" dirty="0" err="1"/>
              <a:t>pessoas</a:t>
            </a:r>
            <a:r>
              <a:rPr lang="en-US" dirty="0"/>
              <a:t> </a:t>
            </a:r>
            <a:r>
              <a:rPr lang="en-US" dirty="0" err="1"/>
              <a:t>geograficamente</a:t>
            </a:r>
            <a:r>
              <a:rPr lang="en-US" dirty="0"/>
              <a:t> </a:t>
            </a:r>
            <a:r>
              <a:rPr lang="en-US" dirty="0" err="1"/>
              <a:t>próximas</a:t>
            </a:r>
            <a:r>
              <a:rPr lang="en-US" dirty="0"/>
              <a:t> </a:t>
            </a:r>
            <a:r>
              <a:rPr lang="en-US" dirty="0" err="1"/>
              <a:t>seja</a:t>
            </a:r>
            <a:r>
              <a:rPr lang="en-US" dirty="0"/>
              <a:t> no </a:t>
            </a:r>
            <a:r>
              <a:rPr lang="en-US" dirty="0" err="1"/>
              <a:t>seu</a:t>
            </a:r>
            <a:r>
              <a:rPr lang="en-US" dirty="0"/>
              <a:t> bairro </a:t>
            </a:r>
            <a:r>
              <a:rPr lang="en-US" dirty="0" err="1"/>
              <a:t>ou</a:t>
            </a:r>
            <a:r>
              <a:rPr lang="en-US" dirty="0"/>
              <a:t> no </a:t>
            </a:r>
            <a:r>
              <a:rPr lang="en-US" dirty="0" err="1"/>
              <a:t>seu</a:t>
            </a:r>
            <a:r>
              <a:rPr lang="en-US" dirty="0"/>
              <a:t> </a:t>
            </a:r>
            <a:r>
              <a:rPr lang="en-US" dirty="0" err="1"/>
              <a:t>caminho</a:t>
            </a:r>
            <a:r>
              <a:rPr lang="en-US" dirty="0"/>
              <a:t>. O app </a:t>
            </a:r>
            <a:r>
              <a:rPr lang="en-US" dirty="0" err="1"/>
              <a:t>conecta</a:t>
            </a:r>
            <a:r>
              <a:rPr lang="en-US" dirty="0"/>
              <a:t> </a:t>
            </a:r>
            <a:r>
              <a:rPr lang="en-US" dirty="0" err="1"/>
              <a:t>pessoas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torno</a:t>
            </a:r>
            <a:r>
              <a:rPr lang="en-US" dirty="0"/>
              <a:t> de </a:t>
            </a:r>
            <a:r>
              <a:rPr lang="en-US" dirty="0" err="1"/>
              <a:t>informações</a:t>
            </a:r>
            <a:r>
              <a:rPr lang="en-US" dirty="0"/>
              <a:t> que </a:t>
            </a:r>
            <a:r>
              <a:rPr lang="en-US" dirty="0" err="1"/>
              <a:t>podem</a:t>
            </a:r>
            <a:r>
              <a:rPr lang="en-US" dirty="0"/>
              <a:t> </a:t>
            </a:r>
            <a:r>
              <a:rPr lang="en-US" dirty="0" err="1"/>
              <a:t>aumentar</a:t>
            </a:r>
            <a:r>
              <a:rPr lang="en-US" dirty="0"/>
              <a:t> </a:t>
            </a:r>
            <a:r>
              <a:rPr lang="en-US" dirty="0" err="1"/>
              <a:t>sua</a:t>
            </a:r>
            <a:r>
              <a:rPr lang="en-US" dirty="0"/>
              <a:t> </a:t>
            </a:r>
            <a:r>
              <a:rPr lang="en-US" dirty="0" err="1"/>
              <a:t>segurança</a:t>
            </a:r>
            <a:r>
              <a:rPr lang="en-US" dirty="0"/>
              <a:t>. </a:t>
            </a:r>
            <a:r>
              <a:rPr lang="en-US" dirty="0" err="1"/>
              <a:t>Fazendo</a:t>
            </a:r>
            <a:r>
              <a:rPr lang="en-US" dirty="0"/>
              <a:t> com que </a:t>
            </a:r>
            <a:r>
              <a:rPr lang="en-US" dirty="0" err="1"/>
              <a:t>lide</a:t>
            </a:r>
            <a:r>
              <a:rPr lang="en-US" dirty="0"/>
              <a:t> com </a:t>
            </a:r>
            <a:r>
              <a:rPr lang="en-US" dirty="0" err="1"/>
              <a:t>adversidade</a:t>
            </a:r>
            <a:r>
              <a:rPr lang="en-US" dirty="0"/>
              <a:t> de </a:t>
            </a:r>
            <a:r>
              <a:rPr lang="en-US" dirty="0" err="1"/>
              <a:t>uma</a:t>
            </a:r>
            <a:r>
              <a:rPr lang="en-US" dirty="0"/>
              <a:t> </a:t>
            </a:r>
            <a:r>
              <a:rPr lang="en-US" dirty="0" err="1"/>
              <a:t>cidade</a:t>
            </a:r>
            <a:r>
              <a:rPr lang="en-US" dirty="0"/>
              <a:t> de </a:t>
            </a:r>
            <a:r>
              <a:rPr lang="en-US" dirty="0" err="1"/>
              <a:t>maneira</a:t>
            </a:r>
            <a:r>
              <a:rPr lang="en-US" dirty="0"/>
              <a:t>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adaptada</a:t>
            </a:r>
            <a:r>
              <a:rPr lang="en-US" dirty="0"/>
              <a:t>. Ele </a:t>
            </a:r>
            <a:r>
              <a:rPr lang="en-US" dirty="0" err="1"/>
              <a:t>conecta</a:t>
            </a:r>
            <a:r>
              <a:rPr lang="en-US" dirty="0"/>
              <a:t> </a:t>
            </a:r>
            <a:r>
              <a:rPr lang="en-US" dirty="0" err="1"/>
              <a:t>essas</a:t>
            </a:r>
            <a:r>
              <a:rPr lang="en-US" dirty="0"/>
              <a:t> </a:t>
            </a:r>
            <a:r>
              <a:rPr lang="en-US" dirty="0" err="1"/>
              <a:t>pessoas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meio</a:t>
            </a:r>
            <a:r>
              <a:rPr lang="en-US" dirty="0"/>
              <a:t> da </a:t>
            </a:r>
            <a:r>
              <a:rPr lang="en-US" dirty="0" err="1"/>
              <a:t>troca</a:t>
            </a:r>
            <a:r>
              <a:rPr lang="en-US" dirty="0"/>
              <a:t> de </a:t>
            </a:r>
            <a:r>
              <a:rPr lang="en-US" dirty="0" err="1"/>
              <a:t>informações</a:t>
            </a:r>
            <a:r>
              <a:rPr lang="en-US" dirty="0"/>
              <a:t>. </a:t>
            </a:r>
            <a:r>
              <a:rPr lang="en-US" dirty="0" err="1"/>
              <a:t>Onde</a:t>
            </a:r>
            <a:r>
              <a:rPr lang="en-US" dirty="0"/>
              <a:t> o proprio </a:t>
            </a:r>
            <a:r>
              <a:rPr lang="en-US" dirty="0" err="1"/>
              <a:t>usário</a:t>
            </a:r>
            <a:r>
              <a:rPr lang="en-US" dirty="0"/>
              <a:t> </a:t>
            </a:r>
            <a:r>
              <a:rPr lang="en-US" dirty="0" err="1"/>
              <a:t>faz</a:t>
            </a:r>
            <a:r>
              <a:rPr lang="en-US" dirty="0"/>
              <a:t> a entrada de dados e o app </a:t>
            </a:r>
            <a:r>
              <a:rPr lang="en-US" dirty="0" err="1"/>
              <a:t>transforma</a:t>
            </a:r>
            <a:r>
              <a:rPr lang="en-US" dirty="0"/>
              <a:t> esses dados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informações</a:t>
            </a:r>
            <a:r>
              <a:rPr lang="en-US" dirty="0"/>
              <a:t> para outros </a:t>
            </a:r>
            <a:r>
              <a:rPr lang="en-US" dirty="0" err="1"/>
              <a:t>usuarios</a:t>
            </a:r>
            <a:r>
              <a:rPr lang="en-US" dirty="0"/>
              <a:t>.. É </a:t>
            </a:r>
            <a:r>
              <a:rPr lang="en-US" dirty="0" err="1"/>
              <a:t>muito</a:t>
            </a:r>
            <a:r>
              <a:rPr lang="en-US" dirty="0"/>
              <a:t> simples usar o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Cenário real: você está saindo do trabalho. Como tomaria a decisão sem essa informação?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item é uma história real. Pergunte à plateia se já viveu algo parecido.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ao vivo se possível.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Enfatize que é simples: menos de 1 minuto para registrar uma ocorrência.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convicção. Se houver perguntas, mostre o app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microsoft.com/office/2007/relationships/media" Target="../media/media2.mp4"/><Relationship Id="rId7" Type="http://schemas.openxmlformats.org/officeDocument/2006/relationships/image" Target="../media/image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video" Target="../media/media2.mp4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microsoft.com/office/2007/relationships/media" Target="../media/media5.mp4"/><Relationship Id="rId7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6" Type="http://schemas.openxmlformats.org/officeDocument/2006/relationships/video" Target="../media/media6.mp4"/><Relationship Id="rId11" Type="http://schemas.openxmlformats.org/officeDocument/2006/relationships/image" Target="../media/image6.png"/><Relationship Id="rId5" Type="http://schemas.microsoft.com/office/2007/relationships/media" Target="../media/media6.mp4"/><Relationship Id="rId10" Type="http://schemas.openxmlformats.org/officeDocument/2006/relationships/image" Target="../media/image5.png"/><Relationship Id="rId4" Type="http://schemas.openxmlformats.org/officeDocument/2006/relationships/video" Target="../media/media5.mp4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7.mp4"/><Relationship Id="rId1" Type="http://schemas.microsoft.com/office/2007/relationships/media" Target="../media/media7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502920"/>
            <a:ext cx="1005840" cy="1005840"/>
          </a:xfrm>
          <a:prstGeom prst="ellipse">
            <a:avLst/>
          </a:prstGeom>
          <a:solidFill>
            <a:srgbClr val="126315">
              <a:alpha val="85000"/>
            </a:srgbClr>
          </a:solidFill>
          <a:ln w="25400">
            <a:solidFill>
              <a:srgbClr val="47C6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943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🛡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54480" y="54864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600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BAIRRO SEGURO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informação certa, na hora certa, pode salvar vidas.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8229600" cy="27432"/>
          </a:xfrm>
          <a:prstGeom prst="rect">
            <a:avLst/>
          </a:prstGeom>
          <a:solidFill>
            <a:srgbClr val="126315">
              <a:alpha val="60000"/>
            </a:srgbClr>
          </a:solidFill>
          <a:ln w="12700">
            <a:solidFill>
              <a:srgbClr val="1263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Minas · Sistemas de Informação · 2026/1</a:t>
            </a:r>
            <a:endParaRPr lang="en-US" sz="12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E0A0A6-B785-790B-8D08-FAACF9C6B4E7}"/>
              </a:ext>
            </a:extLst>
          </p:cNvPr>
          <p:cNvSpPr txBox="1"/>
          <p:nvPr/>
        </p:nvSpPr>
        <p:spPr>
          <a:xfrm>
            <a:off x="961121" y="2769898"/>
            <a:ext cx="68746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PROF: Clóvis Lemos Tavares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ALUNOS: 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Bruno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Felipe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Fernando 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Flávio</a:t>
            </a:r>
          </a:p>
          <a:p>
            <a:r>
              <a:rPr lang="pt-BR" dirty="0">
                <a:solidFill>
                  <a:schemeClr val="accent6">
                    <a:lumMod val="75000"/>
                  </a:schemeClr>
                </a:solidFill>
              </a:rPr>
              <a:t>Raphael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velocidade da informação muda tudo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2172C"/>
          </a:solidFill>
          <a:ln w="12700">
            <a:solidFill>
              <a:srgbClr val="12631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🌪️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climáticos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alerta de enchente recebido com antecedência pode ser a diferença entre evacuar a tempo ou não.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2172C"/>
          </a:solidFill>
          <a:ln w="12700">
            <a:solidFill>
              <a:srgbClr val="12631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🏥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precoce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337560" y="27432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médicas chegando mais rápido aceleram decisões que salvam vidas nos primeiros minutos.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2172C"/>
          </a:solidFill>
          <a:ln w="12700">
            <a:solidFill>
              <a:srgbClr val="12631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3504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🚗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7220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caminho ao trabalho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72200" y="274320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de um acidente ou bloqueio antes de sair de casa poupa tempo e evita estresse.</a:t>
            </a:r>
            <a:endParaRPr lang="en-US" sz="1300" dirty="0"/>
          </a:p>
        </p:txBody>
      </p:sp>
      <p:pic>
        <p:nvPicPr>
          <p:cNvPr id="17" name="Quero_criar_um_video_de_uma_te">
            <a:hlinkClick r:id="" action="ppaction://media"/>
            <a:extLst>
              <a:ext uri="{FF2B5EF4-FFF2-40B4-BE49-F238E27FC236}">
                <a16:creationId xmlns:a16="http://schemas.microsoft.com/office/drawing/2014/main" id="{C509257D-72FB-BAF9-BCA6-CEC76013A05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400050" y="1208315"/>
            <a:ext cx="2555604" cy="1437528"/>
          </a:xfrm>
          <a:prstGeom prst="parallelogram">
            <a:avLst/>
          </a:prstGeom>
        </p:spPr>
      </p:pic>
      <p:pic>
        <p:nvPicPr>
          <p:cNvPr id="22" name="quero_criar_um_video_bem_curto">
            <a:hlinkClick r:id="" action="ppaction://media"/>
            <a:extLst>
              <a:ext uri="{FF2B5EF4-FFF2-40B4-BE49-F238E27FC236}">
                <a16:creationId xmlns:a16="http://schemas.microsoft.com/office/drawing/2014/main" id="{6A21D543-8B9C-CE33-2319-B60CAF4E0A18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270794" y="1306286"/>
            <a:ext cx="2444206" cy="1374866"/>
          </a:xfrm>
          <a:prstGeom prst="round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100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00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 mute="1">
                <p:cTn id="23" repeatCount="indefinite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 segurança ao redor da sua casa?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52400" y="107823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voltar do trabalho à noite.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conhece os caminhos mais </a:t>
            </a:r>
            <a:r>
              <a:rPr lang="en-US" sz="1800" dirty="0" err="1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r>
              <a:rPr lang="en-US" sz="18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dirty="0" err="1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</a:t>
            </a:r>
            <a:r>
              <a:rPr lang="en-US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estranhas</a:t>
            </a:r>
            <a:r>
              <a:rPr lang="en-US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com </a:t>
            </a:r>
            <a:r>
              <a:rPr lang="en-US" dirty="0" err="1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</a:t>
            </a:r>
            <a:r>
              <a:rPr lang="en-US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dirty="0" err="1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psicopata</a:t>
            </a:r>
            <a:r>
              <a:rPr lang="en-US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 se há ruas com pouca iluminação no seu trajeto?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como saber se algo aconteceu na sua rua hoje?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3566160"/>
            <a:ext cx="8229600" cy="1188720"/>
          </a:xfrm>
          <a:prstGeom prst="roundRect">
            <a:avLst>
              <a:gd name="adj" fmla="val 9231"/>
            </a:avLst>
          </a:prstGeom>
          <a:solidFill>
            <a:srgbClr val="126315">
              <a:alpha val="15000"/>
            </a:srgbClr>
          </a:solidFill>
          <a:ln w="12700">
            <a:solidFill>
              <a:srgbClr val="47C6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118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pessoas não tem acesso a essas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organizadas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tempo real.</a:t>
            </a:r>
            <a:endParaRPr lang="en-US" sz="17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esse problema que o Bairro Seguro resolve.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303520" y="100584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0A1A0A"/>
          </a:solidFill>
          <a:ln w="12700">
            <a:solidFill>
              <a:srgbClr val="12631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0" y="137160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🌙🏘️</a:t>
            </a:r>
            <a:endParaRPr lang="en-US" sz="6400" dirty="0"/>
          </a:p>
        </p:txBody>
      </p:sp>
      <p:pic>
        <p:nvPicPr>
          <p:cNvPr id="8" name="um_video_de_um_carro_chegando">
            <a:hlinkClick r:id="" action="ppaction://media"/>
            <a:extLst>
              <a:ext uri="{FF2B5EF4-FFF2-40B4-BE49-F238E27FC236}">
                <a16:creationId xmlns:a16="http://schemas.microsoft.com/office/drawing/2014/main" id="{1027DF0B-73F2-E6BC-836A-534C1E3F07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24696" y="872491"/>
            <a:ext cx="4036423" cy="2560320"/>
          </a:xfrm>
          <a:prstGeom prst="rect">
            <a:avLst/>
          </a:prstGeom>
        </p:spPr>
      </p:pic>
      <p:sp>
        <p:nvSpPr>
          <p:cNvPr id="9" name="AutoShape 2" descr="Imagens vetoriais de Grumpy emoji | DepositPhotos">
            <a:extLst>
              <a:ext uri="{FF2B5EF4-FFF2-40B4-BE49-F238E27FC236}">
                <a16:creationId xmlns:a16="http://schemas.microsoft.com/office/drawing/2014/main" id="{AE2815CD-8295-9BF8-0737-E59311BDD9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14800" y="235458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AutoShape 6" descr="Imagens vetoriais de Grumpy emoji | DepositPhotos">
            <a:extLst>
              <a:ext uri="{FF2B5EF4-FFF2-40B4-BE49-F238E27FC236}">
                <a16:creationId xmlns:a16="http://schemas.microsoft.com/office/drawing/2014/main" id="{AE99DF3A-4D86-A0C7-439E-A072E247FC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2419349"/>
            <a:ext cx="1627909" cy="162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10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oundRect">
            <a:avLst/>
          </a:prstGeom>
          <a:solidFill>
            <a:srgbClr val="126315"/>
          </a:solidFill>
          <a:ln w="12700">
            <a:solidFill>
              <a:srgbClr val="1263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Conheça o Bairro Seguro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aplicativo web onde moradores registram e consultam ocorrências do bairro em tempo real, diretamente no mapa.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2172C"/>
          </a:solidFill>
          <a:ln w="12700">
            <a:solidFill>
              <a:srgbClr val="1A2A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377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Mapa interativo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337560" y="21945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2172C"/>
          </a:solidFill>
          <a:ln w="12700">
            <a:solidFill>
              <a:srgbClr val="1A2A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2377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Tipos de ocorrência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2172C"/>
          </a:solidFill>
          <a:ln w="12700">
            <a:solidFill>
              <a:srgbClr val="1A2A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9360" y="237744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Níveis de gravidade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52044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2172C"/>
          </a:solidFill>
          <a:ln w="12700">
            <a:solidFill>
              <a:srgbClr val="1A2A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Comentários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337560" y="352044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2172C"/>
          </a:solidFill>
          <a:ln w="12700">
            <a:solidFill>
              <a:srgbClr val="1A2A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2900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🆘  Botão SOS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7920" y="3520440"/>
            <a:ext cx="2651760" cy="1143000"/>
          </a:xfrm>
          <a:prstGeom prst="roundRect">
            <a:avLst>
              <a:gd name="adj" fmla="val 8000"/>
            </a:avLst>
          </a:prstGeom>
          <a:solidFill>
            <a:srgbClr val="12172C"/>
          </a:solidFill>
          <a:ln w="12700">
            <a:solidFill>
              <a:srgbClr val="1A2A1A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9360" y="370332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Busca e filtros</a:t>
            </a:r>
            <a:endParaRPr lang="en-US" sz="1600" dirty="0"/>
          </a:p>
        </p:txBody>
      </p:sp>
      <p:pic>
        <p:nvPicPr>
          <p:cNvPr id="22" name="ocorrencia_curto">
            <a:hlinkClick r:id="" action="ppaction://media"/>
            <a:extLst>
              <a:ext uri="{FF2B5EF4-FFF2-40B4-BE49-F238E27FC236}">
                <a16:creationId xmlns:a16="http://schemas.microsoft.com/office/drawing/2014/main" id="{21EEDF1B-CFBD-924B-8BFE-F8E2E0F9035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9518" y="1869847"/>
            <a:ext cx="3202322" cy="1584483"/>
          </a:xfrm>
          <a:prstGeom prst="roundRect">
            <a:avLst/>
          </a:prstGeom>
        </p:spPr>
      </p:pic>
      <p:pic>
        <p:nvPicPr>
          <p:cNvPr id="24" name="video_perigo">
            <a:hlinkClick r:id="" action="ppaction://media"/>
            <a:extLst>
              <a:ext uri="{FF2B5EF4-FFF2-40B4-BE49-F238E27FC236}">
                <a16:creationId xmlns:a16="http://schemas.microsoft.com/office/drawing/2014/main" id="{CF4ABDE5-0F16-D3F7-E8FC-46E83CE68A13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968934" y="1940531"/>
            <a:ext cx="3203266" cy="1584949"/>
          </a:xfrm>
          <a:prstGeom prst="rect">
            <a:avLst/>
          </a:prstGeom>
        </p:spPr>
      </p:pic>
      <p:pic>
        <p:nvPicPr>
          <p:cNvPr id="25" name="video_perigo">
            <a:hlinkClick r:id="" action="ppaction://media"/>
            <a:extLst>
              <a:ext uri="{FF2B5EF4-FFF2-40B4-BE49-F238E27FC236}">
                <a16:creationId xmlns:a16="http://schemas.microsoft.com/office/drawing/2014/main" id="{B5742241-FE8A-9D21-FFFC-68E8C254E606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897880" y="1869847"/>
            <a:ext cx="3202323" cy="1584483"/>
          </a:xfrm>
          <a:prstGeom prst="rect">
            <a:avLst/>
          </a:prstGeom>
        </p:spPr>
      </p:pic>
      <p:pic>
        <p:nvPicPr>
          <p:cNvPr id="26" name="video_comentarios">
            <a:hlinkClick r:id="" action="ppaction://media"/>
            <a:extLst>
              <a:ext uri="{FF2B5EF4-FFF2-40B4-BE49-F238E27FC236}">
                <a16:creationId xmlns:a16="http://schemas.microsoft.com/office/drawing/2014/main" id="{88DC0F41-DE1A-9EB3-52D8-2ADC0F8A8397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81447" y="3448308"/>
            <a:ext cx="3063240" cy="15156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0000" fill="hold"/>
                                        <p:tgtEl>
                                          <p:spTgt spid="2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0" dur="6000" fill="hold"/>
                                        <p:tgtEl>
                                          <p:spTgt spid="2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6000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38" dur="700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39" repeatCount="indefinite" fill="hold" display="0">
                  <p:stCondLst>
                    <p:cond delay="indefinite"/>
                  </p:stCondLst>
                </p:cTn>
                <p:tgtEl>
                  <p:spTgt spid="22"/>
                </p:tgtEl>
              </p:cMediaNode>
            </p:video>
            <p:video>
              <p:cMediaNode vol="80000">
                <p:cTn id="40" repeatCount="indefinite" fill="hold" display="0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  <p:video>
              <p:cMediaNode vol="80000">
                <p:cTn id="41" repeatCount="indefinite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video>
              <p:cMediaNode vol="80000">
                <p:cTn id="42" repeatCount="indefinite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2011680" cy="502920"/>
          </a:xfrm>
          <a:prstGeom prst="roundRect">
            <a:avLst>
              <a:gd name="adj" fmla="val 50909"/>
            </a:avLst>
          </a:prstGeom>
          <a:solidFill>
            <a:srgbClr val="7A1313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Assalto / Roubo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Sabia que houve um assalto na sua rua hoje?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444790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Bairro Seguro, moradores registram ocorrências de assaltos e roubos em tempo real no mapa. Você pode ver se aconteceu algo no seu caminho antes de sair de casa — e escolher uma rota mais segura.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0" y="1005840"/>
            <a:ext cx="3200400" cy="2344783"/>
          </a:xfrm>
          <a:prstGeom prst="roundRect">
            <a:avLst>
              <a:gd name="adj" fmla="val 4000"/>
            </a:avLst>
          </a:prstGeom>
          <a:solidFill>
            <a:srgbClr val="12172C"/>
          </a:solidFill>
          <a:ln w="19050">
            <a:solidFill>
              <a:srgbClr val="C0392B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0" y="1143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🚨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760720" y="1828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Assalto/roubo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76072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Perigo extremo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Av. Afonso Pena, BH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6072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 Hoje às 19:32</a:t>
            </a:r>
            <a:endParaRPr lang="en-US" sz="1100" dirty="0"/>
          </a:p>
        </p:txBody>
      </p:sp>
      <p:pic>
        <p:nvPicPr>
          <p:cNvPr id="12" name="assalto1">
            <a:hlinkClick r:id="" action="ppaction://media"/>
            <a:extLst>
              <a:ext uri="{FF2B5EF4-FFF2-40B4-BE49-F238E27FC236}">
                <a16:creationId xmlns:a16="http://schemas.microsoft.com/office/drawing/2014/main" id="{E6D25B95-A7DE-EC5F-6F9B-90AB8798F5B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904377" y="960120"/>
            <a:ext cx="4389120" cy="24688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0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Situações do dia a dia que você pode reportar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2172C"/>
          </a:solidFill>
          <a:ln w="10160">
            <a:solidFill>
              <a:srgbClr val="12631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1188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Iluminação apagada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Rua sem luz às 22h — risco para pedestres e ciclistas no retorno para casa.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2172C"/>
          </a:solidFill>
          <a:ln w="10160">
            <a:solidFill>
              <a:srgbClr val="12631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1887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Som alto / barulho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16916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Festa perturbando o descanso dos vizinhos — reporte e acompanhe se outros também registraram.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2172C"/>
          </a:solidFill>
          <a:ln w="10160">
            <a:solidFill>
              <a:srgbClr val="12631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3108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Vandalismo / Dano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ônibus depredado ou lixo irregular — informação que chega às autoridades mais rápido.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4160520" cy="1691640"/>
          </a:xfrm>
          <a:prstGeom prst="roundRect">
            <a:avLst>
              <a:gd name="adj" fmla="val 6486"/>
            </a:avLst>
          </a:prstGeom>
          <a:solidFill>
            <a:srgbClr val="12172C"/>
          </a:solidFill>
          <a:ln w="10160">
            <a:solidFill>
              <a:srgbClr val="126315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31089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Assédio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6118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de assédio em determinada rua ajuda outros moradores a evitar o local no horário de risco.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05840" cy="1005840"/>
          </a:xfrm>
          <a:prstGeom prst="ellipse">
            <a:avLst/>
          </a:prstGeom>
          <a:solidFill>
            <a:srgbClr val="9B1C1C"/>
          </a:solidFill>
          <a:ln w="25400">
            <a:solidFill>
              <a:srgbClr val="DC2626"/>
            </a:solidFill>
            <a:prstDash val="solid"/>
          </a:ln>
          <a:effectLst>
            <a:outerShdw blurRad="152400" dist="50800" dir="2700000" algn="bl" rotWithShape="0">
              <a:srgbClr val="DC2626">
                <a:alpha val="5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2743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🆘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554480" y="411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Botão de Emergência SOS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situações críticas que exigem atenção imediata de todos os moradores.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9B1C1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1031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🆘 SOS ao lado do mapa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457200" cy="457200"/>
          </a:xfrm>
          <a:prstGeom prst="ellipse">
            <a:avLst/>
          </a:prstGeom>
          <a:solidFill>
            <a:srgbClr val="9B1C1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16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277063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local clicando no mapa ou pelo CEP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483864"/>
            <a:ext cx="457200" cy="457200"/>
          </a:xfrm>
          <a:prstGeom prst="ellipse">
            <a:avLst/>
          </a:prstGeom>
          <a:solidFill>
            <a:srgbClr val="9B1C1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343814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formulário entra em modo emergência (fundo vermelho, gravidade máxima)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4151376"/>
            <a:ext cx="457200" cy="457200"/>
          </a:xfrm>
          <a:prstGeom prst="ellipse">
            <a:avLst/>
          </a:prstGeom>
          <a:solidFill>
            <a:srgbClr val="9B1C1C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97280" y="410565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Relatar EMERGÊNCIA — o marcador aparece pulsando no mapa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 o Bairro Seguro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1417320" cy="1417320"/>
          </a:xfrm>
          <a:prstGeom prst="ellipse">
            <a:avLst/>
          </a:prstGeom>
          <a:solidFill>
            <a:srgbClr val="126315">
              <a:alpha val="80000"/>
            </a:srgbClr>
          </a:solidFill>
          <a:ln w="19050">
            <a:solidFill>
              <a:srgbClr val="47C6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🔐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828800" y="1719072"/>
            <a:ext cx="228600" cy="0"/>
          </a:xfrm>
          <a:prstGeom prst="line">
            <a:avLst/>
          </a:prstGeom>
          <a:noFill/>
          <a:ln w="25400">
            <a:solidFill>
              <a:srgbClr val="47C661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320040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Cadastre-se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30175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sua conta com e-mail e senha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84832" y="1005840"/>
            <a:ext cx="1417320" cy="1417320"/>
          </a:xfrm>
          <a:prstGeom prst="ellipse">
            <a:avLst/>
          </a:prstGeom>
          <a:solidFill>
            <a:srgbClr val="126315">
              <a:alpha val="80000"/>
            </a:srgbClr>
          </a:solidFill>
          <a:ln w="19050">
            <a:solidFill>
              <a:srgbClr val="47C6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0058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🗺️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3547872" y="1719072"/>
            <a:ext cx="228600" cy="0"/>
          </a:xfrm>
          <a:prstGeom prst="line">
            <a:avLst/>
          </a:prstGeom>
          <a:noFill/>
          <a:ln w="25400">
            <a:solidFill>
              <a:srgbClr val="47C661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039112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 mapa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93392" y="30175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ocorrências em tempo real na sua região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03904" y="1005840"/>
            <a:ext cx="1417320" cy="1417320"/>
          </a:xfrm>
          <a:prstGeom prst="ellipse">
            <a:avLst/>
          </a:prstGeom>
          <a:solidFill>
            <a:srgbClr val="126315">
              <a:alpha val="80000"/>
            </a:srgbClr>
          </a:solidFill>
          <a:ln w="19050">
            <a:solidFill>
              <a:srgbClr val="47C6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03904" y="10058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📍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266944" y="1719072"/>
            <a:ext cx="228600" cy="0"/>
          </a:xfrm>
          <a:prstGeom prst="line">
            <a:avLst/>
          </a:prstGeom>
          <a:noFill/>
          <a:ln w="25400">
            <a:solidFill>
              <a:srgbClr val="47C66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758184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Selecione o local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12464" y="30175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mapa ou busque pelo CEP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22976" y="1005840"/>
            <a:ext cx="1417320" cy="1417320"/>
          </a:xfrm>
          <a:prstGeom prst="ellipse">
            <a:avLst/>
          </a:prstGeom>
          <a:solidFill>
            <a:srgbClr val="126315">
              <a:alpha val="80000"/>
            </a:srgbClr>
          </a:solidFill>
          <a:ln w="19050">
            <a:solidFill>
              <a:srgbClr val="47C6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22976" y="10058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📝</a:t>
            </a:r>
            <a:endParaRPr lang="en-US" sz="3200" dirty="0"/>
          </a:p>
        </p:txBody>
      </p:sp>
      <p:sp>
        <p:nvSpPr>
          <p:cNvPr id="20" name="Shape 18"/>
          <p:cNvSpPr/>
          <p:nvPr/>
        </p:nvSpPr>
        <p:spPr>
          <a:xfrm>
            <a:off x="6986016" y="1719072"/>
            <a:ext cx="228600" cy="0"/>
          </a:xfrm>
          <a:prstGeom prst="line">
            <a:avLst/>
          </a:prstGeom>
          <a:noFill/>
          <a:ln w="25400">
            <a:solidFill>
              <a:srgbClr val="47C66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477256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o relato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31536" y="30175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tipo, a gravidade e descreva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242048" y="1005840"/>
            <a:ext cx="1417320" cy="1417320"/>
          </a:xfrm>
          <a:prstGeom prst="ellipse">
            <a:avLst/>
          </a:prstGeom>
          <a:solidFill>
            <a:srgbClr val="126315">
              <a:alpha val="80000"/>
            </a:srgbClr>
          </a:solidFill>
          <a:ln w="19050">
            <a:solidFill>
              <a:srgbClr val="47C6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42048" y="10058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196328" y="256032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Publique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150608" y="301752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ocorrência aparece no mapa para todos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377440"/>
          </a:xfrm>
          <a:prstGeom prst="roundRect">
            <a:avLst/>
          </a:prstGeom>
          <a:solidFill>
            <a:srgbClr val="126315">
              <a:alpha val="10000"/>
            </a:srgbClr>
          </a:solidFill>
          <a:ln w="12700">
            <a:solidFill>
              <a:srgbClr val="12631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é segurança.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Bairro Seguro coloca nas mãos de cada morador o poder de compartilhar o que sabe, proteger quem está por perto e tomar decisões mais seguras no seu dia a dia.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47C6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Juntos, moradores mais informados constroem bairros mais seguros.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BD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· Fernando · Flavio · Bruno · Raphael  |  Professor: Clóvis Lemos Tavares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770</Words>
  <Application>Microsoft Office PowerPoint</Application>
  <PresentationFormat>Apresentação na tela (16:9)</PresentationFormat>
  <Paragraphs>104</Paragraphs>
  <Slides>9</Slides>
  <Notes>9</Notes>
  <HiddenSlides>0</HiddenSlides>
  <MMClips>8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Bairro Seguro</dc:title>
  <dc:subject>PptxGenJS Presentation</dc:subject>
  <dc:creator>PptxGenJS</dc:creator>
  <cp:lastModifiedBy>fernando souza</cp:lastModifiedBy>
  <cp:revision>9</cp:revision>
  <dcterms:created xsi:type="dcterms:W3CDTF">2026-06-15T15:13:13Z</dcterms:created>
  <dcterms:modified xsi:type="dcterms:W3CDTF">2026-06-17T22:04:23Z</dcterms:modified>
</cp:coreProperties>
</file>